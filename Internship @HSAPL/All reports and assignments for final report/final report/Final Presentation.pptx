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78" r:id="rId5"/>
    <p:sldId id="258" r:id="rId6"/>
    <p:sldId id="282" r:id="rId7"/>
    <p:sldId id="284" r:id="rId8"/>
    <p:sldId id="260" r:id="rId9"/>
    <p:sldId id="281" r:id="rId10"/>
    <p:sldId id="289" r:id="rId11"/>
    <p:sldId id="286" r:id="rId12"/>
    <p:sldId id="264" r:id="rId13"/>
    <p:sldId id="291" r:id="rId14"/>
    <p:sldId id="265" r:id="rId15"/>
    <p:sldId id="295" r:id="rId16"/>
    <p:sldId id="296" r:id="rId17"/>
    <p:sldId id="294" r:id="rId18"/>
    <p:sldId id="271" r:id="rId19"/>
    <p:sldId id="275" r:id="rId20"/>
    <p:sldId id="290" r:id="rId21"/>
    <p:sldId id="293" r:id="rId22"/>
    <p:sldId id="276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95846"/>
  </p:normalViewPr>
  <p:slideViewPr>
    <p:cSldViewPr>
      <p:cViewPr varScale="1">
        <p:scale>
          <a:sx n="82" d="100"/>
          <a:sy n="82" d="100"/>
        </p:scale>
        <p:origin x="66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10129" y="551129"/>
            <a:ext cx="4028313" cy="5926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50226" y="2877159"/>
            <a:ext cx="3985259" cy="3546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18435" y="173482"/>
            <a:ext cx="7948930" cy="112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2858" y="2914650"/>
            <a:ext cx="7378700" cy="311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 txBox="1"/>
          <p:nvPr/>
        </p:nvSpPr>
        <p:spPr>
          <a:xfrm>
            <a:off x="2514600" y="2149746"/>
            <a:ext cx="8610600" cy="43726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200000"/>
              </a:lnSpc>
              <a:spcBef>
                <a:spcPts val="95"/>
              </a:spcBef>
            </a:pPr>
            <a:r>
              <a:rPr b="1" u="sng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lang="en-IN" b="1" u="sng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Purchase of Raw Materials, Production, Sales of Kamdhenu NXT TMT Bars and its Financial Operations</a:t>
            </a:r>
            <a:endParaRPr lang="en-US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200000"/>
              </a:lnSpc>
              <a:spcBef>
                <a:spcPts val="95"/>
              </a:spcBef>
            </a:pP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b="1" u="sng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b="1" u="sng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Hindupur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&amp; Alloys (P) Ltd.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200000"/>
              </a:lnSpc>
            </a:pP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 – 31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2026 (8 Weeks)</a:t>
            </a:r>
            <a:endParaRPr lang="en-US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200000"/>
              </a:lnSpc>
            </a:pP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b="1" u="sng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r>
              <a:rPr lang="en-I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Mr. Pradip Kumbhakar – General Manager </a:t>
            </a:r>
            <a:endParaRPr lang="en-US" b="1" u="sng" spc="-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20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IN" b="1" u="sng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r>
              <a:rPr lang="en-IN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Chithra S </a:t>
            </a:r>
            <a:endParaRPr lang="en-IN" b="1" u="sng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200000"/>
              </a:lnSpc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K. Mohammed Abdulla Khan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200000"/>
              </a:lnSpc>
            </a:pP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Roll.</a:t>
            </a:r>
            <a:r>
              <a:rPr b="1" u="sng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No:</a:t>
            </a:r>
            <a:r>
              <a:rPr lang="en-IN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2511421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2429636" y="173482"/>
            <a:ext cx="473316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</a:t>
            </a:r>
            <a:r>
              <a:rPr sz="4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PGDM</a:t>
            </a:r>
            <a:r>
              <a:rPr sz="4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4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722F76-0046-17A4-CF09-D6F509485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2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5755" y="411860"/>
            <a:ext cx="4187445" cy="931024"/>
          </a:xfrm>
          <a:prstGeom prst="rect">
            <a:avLst/>
          </a:prstGeom>
        </p:spPr>
        <p:txBody>
          <a:bodyPr vert="horz" wrap="square" lIns="0" tIns="31242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73000-1161-671D-C5B0-306D6AAD5B08}"/>
              </a:ext>
            </a:extLst>
          </p:cNvPr>
          <p:cNvSpPr txBox="1"/>
          <p:nvPr/>
        </p:nvSpPr>
        <p:spPr>
          <a:xfrm>
            <a:off x="2590800" y="2057400"/>
            <a:ext cx="922020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This internship was undertaken at </a:t>
            </a:r>
            <a:r>
              <a:rPr lang="en-IN" dirty="0" err="1"/>
              <a:t>Hindupur</a:t>
            </a:r>
            <a:r>
              <a:rPr lang="en-IN" dirty="0"/>
              <a:t> Steel &amp; Alloys (P) Ltd., a Kamdhenu franchisee manufacturing TMT bars, from April to May 2026 for 8 weeks. The training provided end-to-end exposure across Quality Control, Production, Billing, Accounts, Finance, and Operations, bridging theoretical management concepts with practical industrial application.</a:t>
            </a:r>
            <a:br>
              <a:rPr lang="en-IN" dirty="0"/>
            </a:br>
            <a:r>
              <a:rPr lang="en-IN" b="1" u="sng" dirty="0"/>
              <a:t>Industry Guides:</a:t>
            </a:r>
            <a:r>
              <a:rPr lang="en-IN" dirty="0"/>
              <a:t>1.  Mr. Pradip Kumbhakar – General Manager. 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                     2. Mr. Susheel Kumar Chauhan – Head, Quality Control. </a:t>
            </a:r>
          </a:p>
          <a:p>
            <a:pPr>
              <a:lnSpc>
                <a:spcPct val="150000"/>
              </a:lnSpc>
            </a:pPr>
            <a:r>
              <a:rPr lang="en-IN" b="1" u="sng" dirty="0"/>
              <a:t>Faculty Guide:</a:t>
            </a:r>
            <a:r>
              <a:rPr lang="en-IN" dirty="0"/>
              <a:t> Dr. Chithra 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2C00B-C549-97CE-4825-280BBD1CC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8435" y="173482"/>
            <a:ext cx="6011165" cy="869469"/>
          </a:xfrm>
          <a:prstGeom prst="rect">
            <a:avLst/>
          </a:prstGeom>
        </p:spPr>
        <p:txBody>
          <a:bodyPr vert="horz" wrap="square" lIns="0" tIns="31242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Company</a:t>
            </a:r>
            <a:r>
              <a:rPr sz="3600" spc="-40" dirty="0"/>
              <a:t> </a:t>
            </a:r>
            <a:r>
              <a:rPr sz="3600" spc="-10" dirty="0"/>
              <a:t>Profile</a:t>
            </a:r>
            <a:endParaRPr sz="36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075D101-0B77-349F-D1C6-885E7EA95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/>
        </p:blipFill>
        <p:spPr bwMode="auto">
          <a:xfrm>
            <a:off x="10058400" y="76200"/>
            <a:ext cx="1905000" cy="127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BC2294-AC06-820C-7C74-33C8DBAF660B}"/>
              </a:ext>
            </a:extLst>
          </p:cNvPr>
          <p:cNvSpPr txBox="1"/>
          <p:nvPr/>
        </p:nvSpPr>
        <p:spPr>
          <a:xfrm>
            <a:off x="2667000" y="1676400"/>
            <a:ext cx="7239000" cy="6100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Incorporated:</a:t>
            </a:r>
            <a:r>
              <a:rPr lang="en-IN" dirty="0"/>
              <a:t> 2009 </a:t>
            </a:r>
          </a:p>
          <a:p>
            <a:pPr>
              <a:lnSpc>
                <a:spcPct val="200000"/>
              </a:lnSpc>
            </a:pPr>
            <a:r>
              <a:rPr lang="en-IN" b="1" dirty="0"/>
              <a:t>Type:</a:t>
            </a:r>
            <a:r>
              <a:rPr lang="en-IN" dirty="0"/>
              <a:t> Private Limited</a:t>
            </a:r>
          </a:p>
          <a:p>
            <a:pPr>
              <a:lnSpc>
                <a:spcPct val="200000"/>
              </a:lnSpc>
            </a:pPr>
            <a:r>
              <a:rPr lang="en-IN" b="1" dirty="0"/>
              <a:t>Location:</a:t>
            </a:r>
            <a:r>
              <a:rPr lang="en-IN" dirty="0"/>
              <a:t> APIIC Industrial Park, </a:t>
            </a:r>
            <a:r>
              <a:rPr lang="en-IN" dirty="0" err="1"/>
              <a:t>Hindupur</a:t>
            </a:r>
            <a:r>
              <a:rPr lang="en-IN" dirty="0"/>
              <a:t>, Andhra Pradesh</a:t>
            </a:r>
          </a:p>
          <a:p>
            <a:pPr>
              <a:lnSpc>
                <a:spcPct val="200000"/>
              </a:lnSpc>
            </a:pPr>
            <a:r>
              <a:rPr lang="en-IN" b="1" dirty="0"/>
              <a:t>Products:</a:t>
            </a:r>
            <a:r>
              <a:rPr lang="en-IN" dirty="0"/>
              <a:t> MS Billets &amp; Kamdhenu NXT TMT Bars</a:t>
            </a:r>
          </a:p>
          <a:p>
            <a:pPr>
              <a:lnSpc>
                <a:spcPct val="200000"/>
              </a:lnSpc>
            </a:pPr>
            <a:r>
              <a:rPr lang="en-IN" b="1" dirty="0"/>
              <a:t>Strength:</a:t>
            </a:r>
            <a:r>
              <a:rPr lang="en-IN" dirty="0"/>
              <a:t> ~250-300 employees </a:t>
            </a:r>
          </a:p>
          <a:p>
            <a:pPr>
              <a:lnSpc>
                <a:spcPct val="200000"/>
              </a:lnSpc>
            </a:pPr>
            <a:r>
              <a:rPr lang="en-IN" b="1" dirty="0"/>
              <a:t>Turnover:</a:t>
            </a:r>
            <a:r>
              <a:rPr lang="en-IN" dirty="0"/>
              <a:t> ₹750-1000 Cr</a:t>
            </a:r>
          </a:p>
          <a:p>
            <a:pPr>
              <a:lnSpc>
                <a:spcPct val="200000"/>
              </a:lnSpc>
            </a:pPr>
            <a:r>
              <a:rPr lang="en-IN" b="1" dirty="0"/>
              <a:t>Capacity:</a:t>
            </a:r>
            <a:r>
              <a:rPr lang="en-IN" dirty="0"/>
              <a:t> ~1,00,000 MT per annum</a:t>
            </a:r>
          </a:p>
          <a:p>
            <a:pPr>
              <a:lnSpc>
                <a:spcPct val="200000"/>
              </a:lnSpc>
            </a:pPr>
            <a:r>
              <a:rPr lang="en-IN" b="1" u="sng" dirty="0"/>
              <a:t>Owners:</a:t>
            </a:r>
            <a:r>
              <a:rPr lang="en-IN" dirty="0"/>
              <a:t>  1. Mr. Ganesh Kumar Agarwal – MD </a:t>
            </a:r>
          </a:p>
          <a:p>
            <a:pPr>
              <a:lnSpc>
                <a:spcPct val="200000"/>
              </a:lnSpc>
            </a:pPr>
            <a:r>
              <a:rPr lang="en-IN" dirty="0"/>
              <a:t>	  2. Mr. Nithin Kumar Agarwal </a:t>
            </a:r>
          </a:p>
          <a:p>
            <a:pPr>
              <a:lnSpc>
                <a:spcPct val="200000"/>
              </a:lnSpc>
            </a:pPr>
            <a:endParaRPr lang="en-IN" b="1" u="sng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60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8435" y="173482"/>
            <a:ext cx="6620765" cy="869469"/>
          </a:xfrm>
          <a:prstGeom prst="rect">
            <a:avLst/>
          </a:prstGeom>
        </p:spPr>
        <p:txBody>
          <a:bodyPr vert="horz" wrap="square" lIns="0" tIns="31242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lang="en-US" sz="3600" dirty="0" err="1"/>
              <a:t>Organisational</a:t>
            </a:r>
            <a:r>
              <a:rPr lang="en-US" sz="3600" dirty="0"/>
              <a:t> Structure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E193E-0DA2-0BE7-9158-060B35C33E74}"/>
              </a:ext>
            </a:extLst>
          </p:cNvPr>
          <p:cNvSpPr txBox="1"/>
          <p:nvPr/>
        </p:nvSpPr>
        <p:spPr>
          <a:xfrm>
            <a:off x="2743200" y="2209800"/>
            <a:ext cx="6781800" cy="305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Functional Organizational Structure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Production Department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Quality Control Department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Finance &amp; Accounts Department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Human Resources Department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Marketing &amp; Sales Department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54A052-EE91-D8E2-1E07-DA59C70CB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ECA08D-2638-0323-1A64-82A1989EE5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513977"/>
            <a:ext cx="4901203" cy="391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8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186104"/>
            <a:ext cx="6388591" cy="988218"/>
          </a:xfrm>
          <a:prstGeom prst="rect">
            <a:avLst/>
          </a:prstGeom>
        </p:spPr>
        <p:txBody>
          <a:bodyPr vert="horz" wrap="square" lIns="0" tIns="369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10C78-105E-8E2E-0A4A-AC6ADCF53325}"/>
              </a:ext>
            </a:extLst>
          </p:cNvPr>
          <p:cNvSpPr txBox="1"/>
          <p:nvPr/>
        </p:nvSpPr>
        <p:spPr>
          <a:xfrm>
            <a:off x="2895600" y="2362200"/>
            <a:ext cx="8153400" cy="388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u="sng" dirty="0"/>
              <a:t>MS Billets:</a:t>
            </a:r>
            <a:r>
              <a:rPr lang="en-IN" u="sng" dirty="0"/>
              <a:t> </a:t>
            </a:r>
            <a:r>
              <a:rPr lang="en-IN" dirty="0"/>
              <a:t>Semi-finished products for re-rolling mills (100-130mm)</a:t>
            </a:r>
          </a:p>
          <a:p>
            <a:pPr lvl="1">
              <a:lnSpc>
                <a:spcPct val="200000"/>
              </a:lnSpc>
            </a:pPr>
            <a:r>
              <a:rPr lang="en-IN" b="1" u="sng" dirty="0"/>
              <a:t>Kamdhenu NXT TMT Bars</a:t>
            </a:r>
            <a:r>
              <a:rPr lang="en-IN" b="1" dirty="0"/>
              <a:t>:</a:t>
            </a:r>
            <a:r>
              <a:rPr lang="en-IN" dirty="0"/>
              <a:t> IS 1786:2008 Certified | Grades Fe-550D | Sizes 8mm-32mm</a:t>
            </a:r>
          </a:p>
          <a:p>
            <a:pPr>
              <a:lnSpc>
                <a:spcPct val="200000"/>
              </a:lnSpc>
            </a:pPr>
            <a:r>
              <a:rPr lang="en-IN" b="1" u="sng" dirty="0"/>
              <a:t>Applications:</a:t>
            </a:r>
            <a:r>
              <a:rPr lang="en-IN" u="sng" dirty="0"/>
              <a:t> </a:t>
            </a:r>
            <a:r>
              <a:rPr lang="en-IN" dirty="0"/>
              <a:t>Residential buildings, bridges, dams, flyovers</a:t>
            </a:r>
          </a:p>
          <a:p>
            <a:pPr>
              <a:lnSpc>
                <a:spcPct val="200000"/>
              </a:lnSpc>
            </a:pPr>
            <a:r>
              <a:rPr lang="en-IN" b="1" u="sng" dirty="0"/>
              <a:t>Key Features:</a:t>
            </a:r>
            <a:r>
              <a:rPr lang="en-IN" u="sng" dirty="0"/>
              <a:t> </a:t>
            </a:r>
            <a:r>
              <a:rPr lang="en-IN" dirty="0"/>
              <a:t>High strength | Ductility | Corrosion resistance | Weldability</a:t>
            </a:r>
          </a:p>
          <a:p>
            <a:pPr>
              <a:lnSpc>
                <a:spcPct val="200000"/>
              </a:lnSpc>
            </a:pP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C0A5B-D922-13BC-EF36-0F12BB6E1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1553" y="173482"/>
            <a:ext cx="4043047" cy="988218"/>
          </a:xfrm>
          <a:prstGeom prst="rect">
            <a:avLst/>
          </a:prstGeom>
        </p:spPr>
        <p:txBody>
          <a:bodyPr vert="horz" wrap="square" lIns="0" tIns="369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ndustry Analysis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59816-CF93-9CF8-AEF9-D91346FE0F4E}"/>
              </a:ext>
            </a:extLst>
          </p:cNvPr>
          <p:cNvSpPr txBox="1"/>
          <p:nvPr/>
        </p:nvSpPr>
        <p:spPr>
          <a:xfrm>
            <a:off x="2438400" y="1828800"/>
            <a:ext cx="8458977" cy="471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Brief Profile of the Industry</a:t>
            </a:r>
            <a:br>
              <a:rPr lang="en-IN" dirty="0"/>
            </a:br>
            <a:r>
              <a:rPr lang="en-IN" dirty="0"/>
              <a:t>India is the world’s 2nd largest steel producer and a key contributor to GDP, employment, and infrastructure growth. The industry is supported by strong domestic demand, government initiatives, and abundant raw material availability. TMT bars play a major role in construction and infrastructure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Present Industry Status</a:t>
            </a:r>
            <a:br>
              <a:rPr lang="en-IN" dirty="0"/>
            </a:br>
            <a:r>
              <a:rPr lang="en-IN" dirty="0"/>
              <a:t>The steel industry is growing due to infrastructure projects, rising construction demand, and urbanization. Major trends include increasing TMT consumption, fluctuating raw material costs, energy challenges, and stricter quality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u="sng" dirty="0"/>
              <a:t>Future Prospects of the Industry</a:t>
            </a:r>
            <a:br>
              <a:rPr lang="en-IN" dirty="0"/>
            </a:br>
            <a:r>
              <a:rPr lang="en-IN" dirty="0"/>
              <a:t>The industry has strong growth potential with India targeting 300 MT steel capacity by 2030–31. Urbanization, infrastructure investment, export opportunities, and green steel initiatives will continue driving future demand.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FFEFB-5EDD-4D02-CBEC-60F5884CA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6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0" y="635092"/>
            <a:ext cx="4187444" cy="591315"/>
          </a:xfrm>
          <a:prstGeom prst="rect">
            <a:avLst/>
          </a:prstGeom>
        </p:spPr>
        <p:txBody>
          <a:bodyPr vert="horz" wrap="square" lIns="0" tIns="64896" rIns="0" bIns="0" rtlCol="0">
            <a:spAutoFit/>
          </a:bodyPr>
          <a:lstStyle/>
          <a:p>
            <a:pPr marL="109855">
              <a:lnSpc>
                <a:spcPts val="4100"/>
              </a:lnSpc>
              <a:spcBef>
                <a:spcPts val="10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6AB730A-3590-9637-7138-46D1519D1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0947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9BBBC5-8218-9879-A88A-9C28F4346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539255"/>
              </p:ext>
            </p:extLst>
          </p:nvPr>
        </p:nvGraphicFramePr>
        <p:xfrm>
          <a:off x="2895600" y="2133600"/>
          <a:ext cx="5730240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305653955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3766071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Competitor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Key Products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26229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Tata Steel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TMT Bars, Structurals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17668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JSW Steel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TMT Bars, Billets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9519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SAIL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TMT Bars, Billets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5558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JSPL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TMT Bars, Billets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5562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Vizag Steel (RINL)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TMT Bars, Wire Rods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029327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433FCC-B36E-8018-3682-D8BEBEC500BB}"/>
              </a:ext>
            </a:extLst>
          </p:cNvPr>
          <p:cNvSpPr txBox="1"/>
          <p:nvPr/>
        </p:nvSpPr>
        <p:spPr>
          <a:xfrm>
            <a:off x="2895600" y="4823049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Competitive Advantage:</a:t>
            </a:r>
            <a:r>
              <a:rPr lang="en-IN" dirty="0"/>
              <a:t> Kamdhenu brand recognition + Proximity to South Indian markets + Cost-efficient scrap-based production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DA3EA0-FA10-A47F-9CC0-2663619D1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6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1553" y="173482"/>
            <a:ext cx="4043047" cy="988218"/>
          </a:xfrm>
          <a:prstGeom prst="rect">
            <a:avLst/>
          </a:prstGeom>
        </p:spPr>
        <p:txBody>
          <a:bodyPr vert="horz" wrap="square" lIns="0" tIns="36906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9D9C6-AE53-FCE9-53B4-E7186255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CF9F4C-6866-44C9-757F-8060B0E2C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815283"/>
            <a:ext cx="6113522" cy="489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9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6517" y="236620"/>
            <a:ext cx="6468365" cy="1009712"/>
          </a:xfrm>
          <a:prstGeom prst="rect">
            <a:avLst/>
          </a:prstGeom>
        </p:spPr>
        <p:txBody>
          <a:bodyPr vert="horz" wrap="square" lIns="0" tIns="390347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C0EB2D-E4FF-B507-5910-5E9F3FAA4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71ACF1-AF89-929F-23FB-CC7DEE270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983112"/>
              </p:ext>
            </p:extLst>
          </p:nvPr>
        </p:nvGraphicFramePr>
        <p:xfrm>
          <a:off x="2870200" y="2136339"/>
          <a:ext cx="8127999" cy="344630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669284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065073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61335989"/>
                    </a:ext>
                  </a:extLst>
                </a:gridCol>
              </a:tblGrid>
              <a:tr h="3782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Department	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Activities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473970"/>
                  </a:ext>
                </a:extLst>
              </a:tr>
              <a:tr h="7178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Quality control and production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Tensile testing, Ring Test, Spectro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821154"/>
                  </a:ext>
                </a:extLst>
              </a:tr>
              <a:tr h="3489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3-4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Billing &amp; Accounts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Invoice generation, Tally, Ledgers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903650"/>
                  </a:ext>
                </a:extLst>
              </a:tr>
              <a:tr h="7178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5-6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Finance &amp; Cost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Purchase/sales data, operational costs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526003"/>
                  </a:ext>
                </a:extLst>
              </a:tr>
              <a:tr h="7178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Production &amp; Operations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Profitability </a:t>
                      </a:r>
                      <a:r>
                        <a:rPr lang="en-US" dirty="0" err="1"/>
                        <a:t>analysis,breakeven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03845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39E1-BB91-8894-462A-A3ECEF29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609600"/>
            <a:ext cx="7948930" cy="984885"/>
          </a:xfrm>
        </p:spPr>
        <p:txBody>
          <a:bodyPr/>
          <a:lstStyle/>
          <a:p>
            <a:r>
              <a:rPr lang="en-IN" dirty="0"/>
              <a:t>Role &amp; Responsibilities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43FCD-1DFD-3945-76DD-8168193F3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0" y="2133600"/>
            <a:ext cx="7378700" cy="4354397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/>
              <a:t>Conducted tensile testing every 30 minutes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/>
              <a:t>Performed Ring Test (Etching Test) for microstructure verification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 err="1"/>
              <a:t>Analyzed</a:t>
            </a:r>
            <a:r>
              <a:rPr lang="en-IN" dirty="0"/>
              <a:t> raw material composition using Spectro Lab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/>
              <a:t>Generated invoices and maintained ledgers in Tally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 err="1"/>
              <a:t>Analyzed</a:t>
            </a:r>
            <a:r>
              <a:rPr lang="en-IN" dirty="0"/>
              <a:t> purchase, sales, and operational cost data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/>
              <a:t>Created Excel charts for profitability tracking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/>
              <a:t>Calculated KPIs, yields, and breakeven point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D3C6F-5A06-AD2C-6570-735CC6F9B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1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0" y="334975"/>
            <a:ext cx="6934200" cy="1009712"/>
          </a:xfrm>
          <a:prstGeom prst="rect">
            <a:avLst/>
          </a:prstGeom>
        </p:spPr>
        <p:txBody>
          <a:bodyPr vert="horz" wrap="square" lIns="0" tIns="390347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</a:t>
            </a:r>
            <a:r>
              <a:rPr lang="en-IN"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TMT Manf.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A15AF5-657A-DA31-B3D5-3FDF35B0C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452562" cy="1452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C74226-D1DE-1660-5BBD-B43BCCFAE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808733"/>
            <a:ext cx="9372600" cy="4686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A64C-6F74-F1C3-FFAB-31FB4AEE5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533400"/>
            <a:ext cx="7948930" cy="492443"/>
          </a:xfrm>
        </p:spPr>
        <p:txBody>
          <a:bodyPr/>
          <a:lstStyle/>
          <a:p>
            <a:r>
              <a:rPr lang="en-IN" dirty="0"/>
              <a:t>Sales, purchase and operational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C2FB59-8EB4-0B04-E83B-A821FE8B5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3703222"/>
            <a:ext cx="9505220" cy="20651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B0A431-C5A4-0620-4D57-EAF1BDA0F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782" y="2098357"/>
            <a:ext cx="4699000" cy="137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D2E26D-CDF6-FF0B-EEBC-1998DBD94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900334"/>
            <a:ext cx="4835304" cy="160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7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2F6-4B99-CD46-9CCA-BF9A43EF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533400"/>
            <a:ext cx="7948930" cy="492443"/>
          </a:xfrm>
        </p:spPr>
        <p:txBody>
          <a:bodyPr/>
          <a:lstStyle/>
          <a:p>
            <a:r>
              <a:rPr lang="en-IN" dirty="0"/>
              <a:t>Production yield and profit analysis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1B7E3-D7C2-840F-5A54-0D55724A3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57400"/>
            <a:ext cx="3611001" cy="960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BF7D2A-BAB3-2D5B-2542-72EBEE6CE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874" y="1981200"/>
            <a:ext cx="6163409" cy="160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30C2DF-492E-0993-C4FE-79658DBB6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4058439"/>
            <a:ext cx="8436071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5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5DF3-D956-A144-B38C-356B0AD4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539" y="683836"/>
            <a:ext cx="7948930" cy="492443"/>
          </a:xfrm>
        </p:spPr>
        <p:txBody>
          <a:bodyPr/>
          <a:lstStyle/>
          <a:p>
            <a:r>
              <a:rPr lang="en-US" dirty="0"/>
              <a:t>Results Achieved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6D3707-0163-56FB-B30C-1E4E2D5C9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80232"/>
              </p:ext>
            </p:extLst>
          </p:nvPr>
        </p:nvGraphicFramePr>
        <p:xfrm>
          <a:off x="2406650" y="1905000"/>
          <a:ext cx="7378700" cy="21945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689350">
                  <a:extLst>
                    <a:ext uri="{9D8B030D-6E8A-4147-A177-3AD203B41FA5}">
                      <a16:colId xmlns:a16="http://schemas.microsoft.com/office/drawing/2014/main" val="523561814"/>
                    </a:ext>
                  </a:extLst>
                </a:gridCol>
                <a:gridCol w="3689350">
                  <a:extLst>
                    <a:ext uri="{9D8B030D-6E8A-4147-A177-3AD203B41FA5}">
                      <a16:colId xmlns:a16="http://schemas.microsoft.com/office/drawing/2014/main" val="1519980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Metric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Value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4125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Sales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1,548 Tons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694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Average Selling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₹53,205 / 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69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Variable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₹34,791 / 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135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Daily Breakeven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237 Tons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226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Daily Breakeven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₹1.26 Crore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5762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40A84A-837E-F500-3FEC-E3D5D6C40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29372"/>
              </p:ext>
            </p:extLst>
          </p:nvPr>
        </p:nvGraphicFramePr>
        <p:xfrm>
          <a:off x="2403540" y="4267200"/>
          <a:ext cx="7378700" cy="10972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689350">
                  <a:extLst>
                    <a:ext uri="{9D8B030D-6E8A-4147-A177-3AD203B41FA5}">
                      <a16:colId xmlns:a16="http://schemas.microsoft.com/office/drawing/2014/main" val="1339538202"/>
                    </a:ext>
                  </a:extLst>
                </a:gridCol>
                <a:gridCol w="3689350">
                  <a:extLst>
                    <a:ext uri="{9D8B030D-6E8A-4147-A177-3AD203B41FA5}">
                      <a16:colId xmlns:a16="http://schemas.microsoft.com/office/drawing/2014/main" val="736731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/>
                        <a:t>Yield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390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 → Billet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83.9%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143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Billet → TMT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95.8%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0367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9EBBAD-17B0-3198-E6ED-2F5F55062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757244"/>
              </p:ext>
            </p:extLst>
          </p:nvPr>
        </p:nvGraphicFramePr>
        <p:xfrm>
          <a:off x="2403539" y="5557002"/>
          <a:ext cx="7378701" cy="10972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459567">
                  <a:extLst>
                    <a:ext uri="{9D8B030D-6E8A-4147-A177-3AD203B41FA5}">
                      <a16:colId xmlns:a16="http://schemas.microsoft.com/office/drawing/2014/main" val="1835883307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530576025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83270415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Brand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/>
                        <a:t>Volume Share</a:t>
                      </a:r>
                      <a:endParaRPr lang="en-IN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Selling Price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3714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Kamdhenu NXT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₹53.55/kg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7224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KAY2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₹51.13/kg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775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77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8435" y="172085"/>
            <a:ext cx="7948930" cy="1123315"/>
          </a:xfrm>
          <a:prstGeom prst="rect">
            <a:avLst/>
          </a:prstGeom>
        </p:spPr>
        <p:txBody>
          <a:bodyPr vert="horz" wrap="square" lIns="0" tIns="555574" rIns="0" bIns="0" rtlCol="0">
            <a:spAutoFit/>
          </a:bodyPr>
          <a:lstStyle/>
          <a:p>
            <a:pPr marL="4203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Learnings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11B17E-44AD-3F76-A836-019DB95A5C97}"/>
              </a:ext>
            </a:extLst>
          </p:cNvPr>
          <p:cNvSpPr txBox="1"/>
          <p:nvPr/>
        </p:nvSpPr>
        <p:spPr>
          <a:xfrm>
            <a:off x="2514600" y="2161600"/>
            <a:ext cx="899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</a:t>
            </a:r>
            <a:endParaRPr lang="en-IN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dirty="0"/>
              <a:t>Complete TMT manufacturing process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dirty="0"/>
              <a:t>Quality control (Tensile, Ring Test, Spectro Lab)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dirty="0"/>
              <a:t>IS 1786:2008 &amp; IS 1893:2025 standards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dirty="0"/>
              <a:t>Industry cost structures &amp; breakeven analysis</a:t>
            </a:r>
          </a:p>
          <a:p>
            <a:pPr lvl="2"/>
            <a:endParaRPr lang="en-IN" dirty="0"/>
          </a:p>
          <a:p>
            <a:r>
              <a:rPr lang="en-IN" b="1" dirty="0"/>
              <a:t>Software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Tally (basic proficiency)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Excel charts &amp; data analysis</a:t>
            </a:r>
          </a:p>
          <a:p>
            <a:endParaRPr lang="en-IN" dirty="0"/>
          </a:p>
          <a:p>
            <a:r>
              <a:rPr lang="en-IN" b="1" dirty="0"/>
              <a:t>Soft Skills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Cross-functional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Professional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Problem-solving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BDA50-B170-5D47-839F-CD9DE0D58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0"/>
            <a:ext cx="1504315" cy="1504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8435" y="173482"/>
            <a:ext cx="6544565" cy="845487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05"/>
              </a:spcBef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84822-1751-C11C-690B-625963CF1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828800"/>
            <a:ext cx="7924800" cy="48230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F81686-8FF6-46F9-0C71-D595420FB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52285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8435" y="173482"/>
            <a:ext cx="6544565" cy="845487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05"/>
              </a:spcBef>
            </a:pPr>
            <a:r>
              <a:rPr lang="en-US" spc="-50">
                <a:latin typeface="Times New Roman" panose="02020603050405020304" pitchFamily="18" charset="0"/>
                <a:cs typeface="Times New Roman" panose="02020603050405020304" pitchFamily="18" charset="0"/>
              </a:rPr>
              <a:t>Feedback from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2CC712-21E7-F89E-B8F6-B5450D779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52285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3EA00-E254-AF01-098A-E1FC59282E3F}"/>
              </a:ext>
            </a:extLst>
          </p:cNvPr>
          <p:cNvSpPr txBox="1"/>
          <p:nvPr/>
        </p:nvSpPr>
        <p:spPr>
          <a:xfrm>
            <a:off x="5490717" y="3496271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Yet to receive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7824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5BE4-D8E0-6DEB-06EB-38C3CC167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609600"/>
            <a:ext cx="7948930" cy="984885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94D51-646C-10F1-0A5B-EEC4E6107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1111"/>
          <a:stretch>
            <a:fillRect/>
          </a:stretch>
        </p:blipFill>
        <p:spPr>
          <a:xfrm>
            <a:off x="3200400" y="1676400"/>
            <a:ext cx="3852267" cy="495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03BF77-1AC9-C39D-28BF-62A6E0A1D4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828800"/>
            <a:ext cx="3200400" cy="426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435BB5-8B31-3F81-9D45-158388312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152400"/>
            <a:ext cx="1342430" cy="134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3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6660" y="3333369"/>
            <a:ext cx="495427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dirty="0">
                <a:latin typeface="Times New Roman"/>
                <a:cs typeface="Times New Roman"/>
              </a:rPr>
              <a:t>THANK</a:t>
            </a:r>
            <a:r>
              <a:rPr sz="6600" b="0" spc="-240" dirty="0">
                <a:latin typeface="Times New Roman"/>
                <a:cs typeface="Times New Roman"/>
              </a:rPr>
              <a:t> </a:t>
            </a:r>
            <a:r>
              <a:rPr sz="6600" b="0" spc="-25" dirty="0">
                <a:latin typeface="Times New Roman"/>
                <a:cs typeface="Times New Roman"/>
              </a:rPr>
              <a:t>YOU</a:t>
            </a:r>
            <a:endParaRPr sz="66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B67F1-0E9B-E7E3-9F36-E5E893266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7620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5434560E6E62419CB78C5ACCFFE810" ma:contentTypeVersion="3" ma:contentTypeDescription="Create a new document." ma:contentTypeScope="" ma:versionID="f80dbbf0b0887e0abc9f8b364d157371">
  <xsd:schema xmlns:xsd="http://www.w3.org/2001/XMLSchema" xmlns:xs="http://www.w3.org/2001/XMLSchema" xmlns:p="http://schemas.microsoft.com/office/2006/metadata/properties" xmlns:ns2="d63df196-612a-4124-a282-885e93e2aaf0" targetNamespace="http://schemas.microsoft.com/office/2006/metadata/properties" ma:root="true" ma:fieldsID="e131a9a28c73bf741c7e95cdb11ec9be" ns2:_="">
    <xsd:import namespace="d63df196-612a-4124-a282-885e93e2aa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df196-612a-4124-a282-885e93e2aa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BC6711-2FBE-491D-8B44-B3B5622DE9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3df196-612a-4124-a282-885e93e2aa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CFE072-12CE-4707-9BE1-831441A57E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55F7F6-8DB3-40A7-B48D-31051BAD67A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d63df196-612a-4124-a282-885e93e2aaf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2260</TotalTime>
  <Words>759</Words>
  <Application>Microsoft Office PowerPoint</Application>
  <PresentationFormat>Widescreen</PresentationFormat>
  <Paragraphs>130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Palatino Linotype</vt:lpstr>
      <vt:lpstr>quote-cjk-patch</vt:lpstr>
      <vt:lpstr>Times New Roman</vt:lpstr>
      <vt:lpstr>Wingdings</vt:lpstr>
      <vt:lpstr>Office Theme</vt:lpstr>
      <vt:lpstr>Summer Internship PGDM 2025-27</vt:lpstr>
      <vt:lpstr>Introduction</vt:lpstr>
      <vt:lpstr>Company Profile</vt:lpstr>
      <vt:lpstr>Organisational Structure</vt:lpstr>
      <vt:lpstr>Product Portfolio</vt:lpstr>
      <vt:lpstr>Industry Analysis</vt:lpstr>
      <vt:lpstr>Competitors</vt:lpstr>
      <vt:lpstr>SWOT Analysis</vt:lpstr>
      <vt:lpstr>Work Assigned</vt:lpstr>
      <vt:lpstr>Role &amp; Responsibilities </vt:lpstr>
      <vt:lpstr>Process Followed – TMT Manf.</vt:lpstr>
      <vt:lpstr>Sales, purchase and operational Data</vt:lpstr>
      <vt:lpstr>Production yield and profit analysis </vt:lpstr>
      <vt:lpstr>Results Achieved </vt:lpstr>
      <vt:lpstr>Learnings</vt:lpstr>
      <vt:lpstr>Certificate from the company</vt:lpstr>
      <vt:lpstr>Feedback from the company</vt:lpstr>
      <vt:lpstr>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ISME</dc:creator>
  <cp:lastModifiedBy>K. M. Tajamulla Abdulla Khan</cp:lastModifiedBy>
  <cp:revision>24</cp:revision>
  <dcterms:created xsi:type="dcterms:W3CDTF">2025-06-11T04:53:05Z</dcterms:created>
  <dcterms:modified xsi:type="dcterms:W3CDTF">2026-06-17T09:46:40Z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2025-06-11T00:00:00Z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0x010100B75434560E6E62419CB78C5ACCFFE810</vt:lpwstr>
  </property>
</Properties>
</file>